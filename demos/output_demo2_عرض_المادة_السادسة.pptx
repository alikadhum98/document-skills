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00000"/>
            <a:ext cx="9144000" cy="30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1500000"/>
            <a:ext cx="8544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3200" b="1">
                <a:solidFill>
                  <a:srgbClr val="FFFFFF"/>
                </a:solidFill>
                <a:latin typeface="Simplified Arabic"/>
              </a:rPr>
              <a:t>آليات المادة السادسة من اتفاقية باريس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000" y="2800000"/>
            <a:ext cx="8544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000" b="0">
                <a:solidFill>
                  <a:srgbClr val="DEEBF7"/>
                </a:solidFill>
                <a:latin typeface="Simplified Arabic"/>
              </a:rPr>
              <a:t>فرص وتحديات في ضوء مخرجات COP29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000" y="4500000"/>
            <a:ext cx="85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400" b="0">
                <a:solidFill>
                  <a:srgbClr val="FFFFFF"/>
                </a:solidFill>
                <a:latin typeface="Simplified Arabic"/>
              </a:rPr>
              <a:t>قسم سياسات المناخ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5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80000"/>
            <a:ext cx="8744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400" b="1">
                <a:solidFill>
                  <a:srgbClr val="FFFFFF"/>
                </a:solidFill>
                <a:latin typeface="Simplified Arabic"/>
              </a:rPr>
              <a:t>ما هي المادة السادسة؟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000" y="1050000"/>
            <a:ext cx="8744000" cy="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0000" y="1200000"/>
            <a:ext cx="874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Simplified Arabic"/>
              </a:rPr>
              <a:t>◀  تتيح التعاون الطوعي بين الدول لتحقيق أهداف المناخ</a:t>
            </a:r>
          </a:p>
          <a:p>
            <a:pPr rtl="1" algn="r"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Simplified Arabic"/>
              </a:rPr>
              <a:t>◀  تشمل آليتين رئيسيتين: 6.2 و6.4</a:t>
            </a:r>
          </a:p>
          <a:p>
            <a:pPr rtl="1" algn="r"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Simplified Arabic"/>
              </a:rPr>
              <a:t>◀  6.2: نتائج التخفيف المحوّلة دولياً (ITMOs)</a:t>
            </a:r>
          </a:p>
          <a:p>
            <a:pPr rtl="1" algn="r"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Simplified Arabic"/>
              </a:rPr>
              <a:t>◀  6.4: آلية الأمم المتحدة للكربون الدولية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" y="47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100" b="0">
                <a:solidFill>
                  <a:srgbClr val="2E75B6"/>
                </a:solidFill>
                <a:latin typeface="Simplified Arabic"/>
              </a:rPr>
              <a:t>1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5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80000"/>
            <a:ext cx="8744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400" b="1">
                <a:solidFill>
                  <a:srgbClr val="FFFFFF"/>
                </a:solidFill>
                <a:latin typeface="Simplified Arabic"/>
              </a:rPr>
              <a:t>أبرز مخرجات COP29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000" y="1050000"/>
            <a:ext cx="8744000" cy="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0000" y="1200000"/>
            <a:ext cx="874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Simplified Arabic"/>
              </a:rPr>
              <a:t>◀  اعتماد معايير التحقق للمادة 6.4</a:t>
            </a:r>
          </a:p>
          <a:p>
            <a:pPr rtl="1" algn="r"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Simplified Arabic"/>
              </a:rPr>
              <a:t>◀  إطلاق سجل المعاملات الدولي</a:t>
            </a:r>
          </a:p>
          <a:p>
            <a:pPr rtl="1" algn="r"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Simplified Arabic"/>
              </a:rPr>
              <a:t>◀  اتفاق 30 دولة على صفقات ITMOs أولية</a:t>
            </a:r>
          </a:p>
          <a:p>
            <a:pPr rtl="1" algn="r"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Simplified Arabic"/>
              </a:rPr>
              <a:t>◀  تحديات لا تزال قائمة في تجنب الازدواجية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" y="47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100" b="0">
                <a:solidFill>
                  <a:srgbClr val="2E75B6"/>
                </a:solidFill>
                <a:latin typeface="Simplified Arabic"/>
              </a:rPr>
              <a:t>2 /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5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0000" y="80000"/>
            <a:ext cx="8744000" cy="7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400" b="1">
                <a:solidFill>
                  <a:srgbClr val="FFFFFF"/>
                </a:solidFill>
                <a:latin typeface="Simplified Arabic"/>
              </a:rPr>
              <a:t>موقف مجموعة الدول العربية</a:t>
            </a:r>
          </a:p>
        </p:txBody>
      </p:sp>
      <p:sp>
        <p:nvSpPr>
          <p:cNvPr id="4" name="Rectangle 3"/>
          <p:cNvSpPr/>
          <p:nvPr/>
        </p:nvSpPr>
        <p:spPr>
          <a:xfrm>
            <a:off x="200000" y="1050000"/>
            <a:ext cx="8744000" cy="60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0000" y="1200000"/>
            <a:ext cx="8744000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Simplified Arabic"/>
              </a:rPr>
              <a:t>◀  دعم آليات السوق مع ضمان التنمية المستدامة</a:t>
            </a:r>
          </a:p>
          <a:p>
            <a:pPr rtl="1" algn="r"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Simplified Arabic"/>
              </a:rPr>
              <a:t>◀  التأكيد على حق الدول النامية في التنمية</a:t>
            </a:r>
          </a:p>
          <a:p>
            <a:pPr rtl="1" algn="r"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Simplified Arabic"/>
              </a:rPr>
              <a:t>◀  مطالبة بحصة من العائدات لصندوق التكيف</a:t>
            </a:r>
          </a:p>
          <a:p>
            <a:pPr rtl="1" algn="r">
              <a:spcBef>
                <a:spcPts val="800"/>
              </a:spcBef>
            </a:pPr>
            <a:r>
              <a:rPr sz="1800">
                <a:solidFill>
                  <a:srgbClr val="262626"/>
                </a:solidFill>
                <a:latin typeface="Simplified Arabic"/>
              </a:rPr>
              <a:t>◀  رفض الشروط المسبقة على استخدام الكربون الأحفوري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0" y="4700000"/>
            <a:ext cx="5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100" b="0">
                <a:solidFill>
                  <a:srgbClr val="2E75B6"/>
                </a:solidFill>
                <a:latin typeface="Simplified Arabic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