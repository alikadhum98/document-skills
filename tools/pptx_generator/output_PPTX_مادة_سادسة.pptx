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0000" y="600000"/>
            <a:ext cx="8544000" cy="3000000"/>
          </a:xfrm>
          <a:prstGeom prst="rect">
            <a:avLst/>
          </a:prstGeom>
          <a:solidFill>
            <a:srgbClr val="173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700000"/>
            <a:ext cx="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4000" b="0">
                <a:solidFill>
                  <a:srgbClr val="262626"/>
                </a:solidFill>
                <a:latin typeface="Simplified Arabic"/>
              </a:rPr>
              <a:t>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600000"/>
            <a:ext cx="8344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3000" b="1">
                <a:solidFill>
                  <a:srgbClr val="FFFFFF"/>
                </a:solidFill>
                <a:latin typeface="Simplified Arabic"/>
              </a:rPr>
              <a:t>موقف العراق من آليات المادة السادسة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2700000"/>
            <a:ext cx="834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800" b="0">
                <a:solidFill>
                  <a:srgbClr val="DEEBF7"/>
                </a:solidFill>
                <a:latin typeface="Simplified Arabic"/>
              </a:rPr>
              <a:t>اتفاقية باريس - الجلسة الثانية والستون للهيئتين الفرعيتين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900000"/>
            <a:ext cx="9144000" cy="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0000" y="4000000"/>
            <a:ext cx="85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0">
                <a:solidFill>
                  <a:srgbClr val="DEEBF7"/>
                </a:solidFill>
                <a:latin typeface="Simplified Arabic"/>
              </a:rPr>
              <a:t>وزارة البيئة - الجمهورية العراقية  |  SB62 - بون 2026  |  مايو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80000"/>
            <a:ext cx="8744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400" b="1">
                <a:solidFill>
                  <a:srgbClr val="FFFFFF"/>
                </a:solidFill>
                <a:latin typeface="Simplified Arabic"/>
              </a:rPr>
              <a:t>📋  السياق والخلفية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" y="980000"/>
            <a:ext cx="8744000" cy="5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00000" y="1160000"/>
            <a:ext cx="360000" cy="3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0000" y="11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1">
                <a:solidFill>
                  <a:srgbClr val="FFFFFF"/>
                </a:solidFill>
                <a:latin typeface="Simplified Arab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" y="1100000"/>
            <a:ext cx="76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المادة السادسة تتيح التعاون الطوعي بين الأطراف لتحقيق أهداف NDC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0000" y="1690000"/>
            <a:ext cx="360000" cy="3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0000" y="169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1">
                <a:solidFill>
                  <a:srgbClr val="FFFFFF"/>
                </a:solidFill>
                <a:latin typeface="Simplified Arab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" y="1630000"/>
            <a:ext cx="76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تشمل ثلاثة محاور: 6.2 (تعاون ثنائي) و6.4 (آلية أممية) و6.8 (نهج غير سوقية)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0000" y="2220000"/>
            <a:ext cx="360000" cy="3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0000" y="222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1">
                <a:solidFill>
                  <a:srgbClr val="FFFFFF"/>
                </a:solidFill>
                <a:latin typeface="Simplified Arab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000" y="2160000"/>
            <a:ext cx="76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اعتمدت معايير التحقق للمادة 6.4 في COP29 خطوة تاريخية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000" y="2750000"/>
            <a:ext cx="360000" cy="3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000" y="275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1">
                <a:solidFill>
                  <a:srgbClr val="FFFFFF"/>
                </a:solidFill>
                <a:latin typeface="Simplified Arab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00" y="2690000"/>
            <a:ext cx="76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العراق يتابع هذا الملف بوصفه دولة منتجة للنفط وطرفاً في المفاوضات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00" y="4800000"/>
            <a:ext cx="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/>
            <a:r>
              <a:rPr sz="1100" b="0">
                <a:solidFill>
                  <a:srgbClr val="707070"/>
                </a:solidFill>
                <a:latin typeface="Simplified Arabic"/>
              </a:rPr>
              <a:t>1/6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80000"/>
            <a:ext cx="8744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400" b="1">
                <a:solidFill>
                  <a:srgbClr val="FFFFFF"/>
                </a:solidFill>
                <a:latin typeface="Simplified Arabic"/>
              </a:rPr>
              <a:t>🤝  موقف العراق - المادة 6.2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" y="980000"/>
            <a:ext cx="8744000" cy="5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0000" y="1100000"/>
            <a:ext cx="8744000" cy="4800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00000" y="1100000"/>
            <a:ext cx="244000" cy="4800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1100000"/>
            <a:ext cx="84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دعم آليات التعاون الثنائي مشروطاً بضمان التنمية المستدامة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200000" y="1640000"/>
            <a:ext cx="8744000" cy="48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00000" y="1640000"/>
            <a:ext cx="244000" cy="48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000" y="1640000"/>
            <a:ext cx="84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التأكيد على ضرورة التعديلات المقابلة لتجنّب الاحتساب المزدوج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000" y="2180000"/>
            <a:ext cx="8744000" cy="48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00000" y="2180000"/>
            <a:ext cx="244000" cy="48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0000" y="2180000"/>
            <a:ext cx="84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المطالبة بمرونة في متطلبات الإبلاغ للدول النامية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0000" y="2720000"/>
            <a:ext cx="8744000" cy="480000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00000" y="2720000"/>
            <a:ext cx="244000" cy="4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0000" y="2720000"/>
            <a:ext cx="84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رفض أي شروط مسبقة تقيّد حق الدول في التنمية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00" y="4800000"/>
            <a:ext cx="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/>
            <a:r>
              <a:rPr sz="1100" b="0">
                <a:solidFill>
                  <a:srgbClr val="707070"/>
                </a:solidFill>
                <a:latin typeface="Simplified Arabic"/>
              </a:rPr>
              <a:t>2/6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80000"/>
            <a:ext cx="8744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400" b="1">
                <a:solidFill>
                  <a:srgbClr val="FFFFFF"/>
                </a:solidFill>
                <a:latin typeface="Simplified Arabic"/>
              </a:rPr>
              <a:t>🌍  موقف العراق - المادة 6.4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" y="980000"/>
            <a:ext cx="8744000" cy="5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0000" y="1100000"/>
            <a:ext cx="8744000" cy="4800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00000" y="1100000"/>
            <a:ext cx="244000" cy="4800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1100000"/>
            <a:ext cx="84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دعم الآلية الأممية كبديل للأسواق الثنائية المنفردة</a:t>
            </a:r>
          </a:p>
        </p:txBody>
      </p:sp>
      <p:sp>
        <p:nvSpPr>
          <p:cNvPr id="8" name="Rectangle 7"/>
          <p:cNvSpPr/>
          <p:nvPr/>
        </p:nvSpPr>
        <p:spPr>
          <a:xfrm>
            <a:off x="200000" y="1640000"/>
            <a:ext cx="8744000" cy="480000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00000" y="1640000"/>
            <a:ext cx="244000" cy="4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000" y="1640000"/>
            <a:ext cx="84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المطالبة برفع حصة صندوق التكيف من 5% إلى 10%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000" y="2180000"/>
            <a:ext cx="8744000" cy="48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00000" y="2180000"/>
            <a:ext cx="244000" cy="48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0000" y="2180000"/>
            <a:ext cx="84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التأكيد على تمثيل الدول النامية في هيئة الإشراف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0000" y="2720000"/>
            <a:ext cx="8744000" cy="48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00000" y="2720000"/>
            <a:ext cx="244000" cy="48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0000" y="2720000"/>
            <a:ext cx="848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طلب تخفيض رسوم الاعتماد للمشاريع الصغيرة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00" y="4800000"/>
            <a:ext cx="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/>
            <a:r>
              <a:rPr sz="1100" b="0">
                <a:solidFill>
                  <a:srgbClr val="707070"/>
                </a:solidFill>
                <a:latin typeface="Simplified Arabic"/>
              </a:rPr>
              <a:t>3/6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80000"/>
            <a:ext cx="8744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400" b="1">
                <a:solidFill>
                  <a:srgbClr val="FFFFFF"/>
                </a:solidFill>
                <a:latin typeface="Simplified Arabic"/>
              </a:rPr>
              <a:t>🔄  موقف العراق - المادة 6.8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" y="980000"/>
            <a:ext cx="8744000" cy="5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00000" y="1160000"/>
            <a:ext cx="360000" cy="3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0000" y="11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1">
                <a:solidFill>
                  <a:srgbClr val="FFFFFF"/>
                </a:solidFill>
                <a:latin typeface="Simplified Arab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" y="1100000"/>
            <a:ext cx="76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دعم قوي للنهج غير السوقية باعتبارها تحترم السيادة الوطنية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0000" y="1690000"/>
            <a:ext cx="360000" cy="3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0000" y="169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1">
                <a:solidFill>
                  <a:srgbClr val="FFFFFF"/>
                </a:solidFill>
                <a:latin typeface="Simplified Arab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" y="1630000"/>
            <a:ext cx="76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التأكيد على دور التعاون التقني ونقل التكنولوجيا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0000" y="2220000"/>
            <a:ext cx="360000" cy="3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0000" y="222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1">
                <a:solidFill>
                  <a:srgbClr val="FFFFFF"/>
                </a:solidFill>
                <a:latin typeface="Simplified Arab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000" y="2160000"/>
            <a:ext cx="76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دعم منتدى النهج غير السوقية ورفع مستوى تمثيله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000" y="2750000"/>
            <a:ext cx="360000" cy="3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0000" y="275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1">
                <a:solidFill>
                  <a:srgbClr val="FFFFFF"/>
                </a:solidFill>
                <a:latin typeface="Simplified Arab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00" y="2690000"/>
            <a:ext cx="76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262626"/>
                </a:solidFill>
                <a:latin typeface="Simplified Arabic"/>
              </a:rPr>
              <a:t>  ربط هذه النهج بخطط التكيف الوطنية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00" y="4800000"/>
            <a:ext cx="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/>
            <a:r>
              <a:rPr sz="1100" b="0">
                <a:solidFill>
                  <a:srgbClr val="707070"/>
                </a:solidFill>
                <a:latin typeface="Simplified Arabic"/>
              </a:rPr>
              <a:t>4/6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80000"/>
            <a:ext cx="8744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400" b="1">
                <a:solidFill>
                  <a:srgbClr val="FFFFFF"/>
                </a:solidFill>
                <a:latin typeface="Simplified Arabic"/>
              </a:rPr>
              <a:t>💡  الفرص المتاحة للعراق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" y="980000"/>
            <a:ext cx="8744000" cy="5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0000" y="1150000"/>
            <a:ext cx="2814666" cy="33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0000" y="1150000"/>
            <a:ext cx="2814666" cy="6000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1150000"/>
            <a:ext cx="281466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FFFFF"/>
                </a:solidFill>
                <a:latin typeface="Simplified Arabic"/>
              </a:rPr>
              <a:t>الطاقة الشمسية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" y="2000000"/>
            <a:ext cx="2814666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800" b="1">
                <a:solidFill>
                  <a:srgbClr val="378644"/>
                </a:solidFill>
                <a:latin typeface="Simplified Arabic"/>
              </a:rPr>
              <a:t>7 غيغاواط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3000000"/>
            <a:ext cx="281466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0">
                <a:solidFill>
                  <a:srgbClr val="707070"/>
                </a:solidFill>
                <a:latin typeface="Simplified Arabic"/>
              </a:rPr>
              <a:t>إمكانات استثمارية عبر 6.2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64666" y="1150000"/>
            <a:ext cx="2814666" cy="3300000"/>
          </a:xfrm>
          <a:prstGeom prst="rect">
            <a:avLst/>
          </a:prstGeom>
          <a:solidFill>
            <a:srgbClr val="DEEBF7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64666" y="1150000"/>
            <a:ext cx="2814666" cy="6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4666" y="1150000"/>
            <a:ext cx="281466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FFFFF"/>
                </a:solidFill>
                <a:latin typeface="Simplified Arabic"/>
              </a:rPr>
              <a:t>الغاز المصاحب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4666" y="2000000"/>
            <a:ext cx="2814666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800" b="1">
                <a:solidFill>
                  <a:srgbClr val="1F497D"/>
                </a:solidFill>
                <a:latin typeface="Simplified Arabic"/>
              </a:rPr>
              <a:t>500 مليون م³/سنة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4666" y="3000000"/>
            <a:ext cx="281466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0">
                <a:solidFill>
                  <a:srgbClr val="707070"/>
                </a:solidFill>
                <a:latin typeface="Simplified Arabic"/>
              </a:rPr>
              <a:t>مشاريع مرشّحة للمادة 6.4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9332" y="1150000"/>
            <a:ext cx="2814666" cy="330000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9332" y="1150000"/>
            <a:ext cx="2814666" cy="6000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9332" y="1150000"/>
            <a:ext cx="2814666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600" b="1">
                <a:solidFill>
                  <a:srgbClr val="FFFFFF"/>
                </a:solidFill>
                <a:latin typeface="Simplified Arabic"/>
              </a:rPr>
              <a:t>العائدات المتوقعة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9332" y="2000000"/>
            <a:ext cx="2814666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2800" b="1">
                <a:solidFill>
                  <a:srgbClr val="BF8F00"/>
                </a:solidFill>
                <a:latin typeface="Simplified Arabic"/>
              </a:rPr>
              <a:t>$63 مليون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9332" y="3000000"/>
            <a:ext cx="2814666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300" b="0">
                <a:solidFill>
                  <a:srgbClr val="707070"/>
                </a:solidFill>
                <a:latin typeface="Simplified Arabic"/>
              </a:rPr>
              <a:t>من الصفقات الجارية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000" y="4800000"/>
            <a:ext cx="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/>
            <a:r>
              <a:rPr sz="1100" b="0">
                <a:solidFill>
                  <a:srgbClr val="707070"/>
                </a:solidFill>
                <a:latin typeface="Simplified Arabic"/>
              </a:rPr>
              <a:t>5/6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80000"/>
            <a:ext cx="87440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400" b="1">
                <a:solidFill>
                  <a:srgbClr val="FFFFFF"/>
                </a:solidFill>
                <a:latin typeface="Simplified Arabic"/>
              </a:rPr>
              <a:t>📌  المطالب والخطوات القادمة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" y="980000"/>
            <a:ext cx="8744000" cy="5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0000" y="1120000"/>
            <a:ext cx="8744000" cy="4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80000" y="1185000"/>
            <a:ext cx="380000" cy="3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80000" y="1185000"/>
            <a:ext cx="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400" b="1">
                <a:solidFill>
                  <a:srgbClr val="FFFFFF"/>
                </a:solidFill>
                <a:latin typeface="Simplified Arab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" y="1120000"/>
            <a:ext cx="768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500" b="0">
                <a:solidFill>
                  <a:srgbClr val="262626"/>
                </a:solidFill>
                <a:latin typeface="Simplified Arabic"/>
              </a:rPr>
              <a:t>  إقرار آلية مرونة للدول النامية في متطلبات الإبلاغ تحت 6.2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0000" y="1580000"/>
            <a:ext cx="8744000" cy="4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0000" y="1645000"/>
            <a:ext cx="380000" cy="3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80000" y="1645000"/>
            <a:ext cx="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400" b="1">
                <a:solidFill>
                  <a:srgbClr val="FFFFFF"/>
                </a:solidFill>
                <a:latin typeface="Simplified Arab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00" y="1580000"/>
            <a:ext cx="768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500" b="0">
                <a:solidFill>
                  <a:srgbClr val="262626"/>
                </a:solidFill>
                <a:latin typeface="Simplified Arabic"/>
              </a:rPr>
              <a:t>  خفض رسوم الاعتماد في المادة 6.4 للدول الأقل نمواً والنامية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0000" y="2040000"/>
            <a:ext cx="8744000" cy="4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0000" y="2105000"/>
            <a:ext cx="380000" cy="3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0000" y="2105000"/>
            <a:ext cx="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400" b="1">
                <a:solidFill>
                  <a:srgbClr val="FFFFFF"/>
                </a:solidFill>
                <a:latin typeface="Simplified Arab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000" y="2040000"/>
            <a:ext cx="768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500" b="0">
                <a:solidFill>
                  <a:srgbClr val="262626"/>
                </a:solidFill>
                <a:latin typeface="Simplified Arabic"/>
              </a:rPr>
              <a:t>  تعزيز دور المادة 6.8 وربطها بتمويل التكيف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0000" y="2500000"/>
            <a:ext cx="8744000" cy="4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80000" y="2565000"/>
            <a:ext cx="380000" cy="3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0000" y="2565000"/>
            <a:ext cx="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400" b="1">
                <a:solidFill>
                  <a:srgbClr val="FFFFFF"/>
                </a:solidFill>
                <a:latin typeface="Simplified Arab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00" y="2500000"/>
            <a:ext cx="768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500" b="0">
                <a:solidFill>
                  <a:srgbClr val="262626"/>
                </a:solidFill>
                <a:latin typeface="Simplified Arabic"/>
              </a:rPr>
              <a:t>  إنشاء سجل شفاف للمعاملات الإقليمية للدول العربية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0000" y="2960000"/>
            <a:ext cx="8744000" cy="49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0000" y="3025000"/>
            <a:ext cx="380000" cy="38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0000" y="3025000"/>
            <a:ext cx="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400" b="1">
                <a:solidFill>
                  <a:srgbClr val="FFFFFF"/>
                </a:solidFill>
                <a:latin typeface="Simplified Arab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00" y="2960000"/>
            <a:ext cx="76800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500" b="0">
                <a:solidFill>
                  <a:srgbClr val="262626"/>
                </a:solidFill>
                <a:latin typeface="Simplified Arabic"/>
              </a:rPr>
              <a:t>  توفير دعم تقني لبناء منظومة MRV الوطنية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000" y="4800000"/>
            <a:ext cx="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l"/>
            <a:r>
              <a:rPr sz="1100" b="0">
                <a:solidFill>
                  <a:srgbClr val="707070"/>
                </a:solidFill>
                <a:latin typeface="Simplified Arabic"/>
              </a:rPr>
              <a:t>6/6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00000"/>
            <a:ext cx="9144000" cy="20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500000"/>
            <a:ext cx="8544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3600" b="1">
                <a:solidFill>
                  <a:srgbClr val="FFFFFF"/>
                </a:solidFill>
                <a:latin typeface="Simplified Arabic"/>
              </a:rPr>
              <a:t>شكراً لحسن الاستماع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2700000"/>
            <a:ext cx="854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800" b="0">
                <a:solidFill>
                  <a:srgbClr val="DEEBF7"/>
                </a:solidFill>
                <a:latin typeface="Simplified Arabic"/>
              </a:rPr>
              <a:t>وزارة البيئة - الجمهورية العراقية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00" y="3400000"/>
            <a:ext cx="85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ctr"/>
            <a:r>
              <a:rPr sz="1400" b="0">
                <a:solidFill>
                  <a:srgbClr val="707070"/>
                </a:solidFill>
                <a:latin typeface="Simplified Arabic"/>
              </a:rPr>
              <a:t>SB62 - بون 2026  |  مايو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